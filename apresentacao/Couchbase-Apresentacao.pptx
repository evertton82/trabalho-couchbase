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1371600"/>
            <a:ext cx="2926080" cy="3657600"/>
          </a:xfrm>
          <a:prstGeom prst="rect">
            <a:avLst/>
          </a:prstGeom>
          <a:solidFill>
            <a:srgbClr val="FF4D5E">
              <a:alpha val="10000"/>
            </a:srgbClr>
          </a:solidFill>
          <a:ln w="12700">
            <a:solidFill>
              <a:srgbClr val="FF4D5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92440" y="1755648"/>
            <a:ext cx="2926080" cy="3657600"/>
          </a:xfrm>
          <a:prstGeom prst="rect">
            <a:avLst/>
          </a:prstGeom>
          <a:solidFill>
            <a:srgbClr val="49D0BE">
              <a:alpha val="11000"/>
            </a:srgbClr>
          </a:solidFill>
          <a:ln w="12700">
            <a:solidFill>
              <a:srgbClr val="49D0BE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2139696"/>
            <a:ext cx="2926080" cy="3657600"/>
          </a:xfrm>
          <a:prstGeom prst="rect">
            <a:avLst/>
          </a:prstGeom>
          <a:solidFill>
            <a:srgbClr val="FF4D5E">
              <a:alpha val="12000"/>
            </a:srgbClr>
          </a:solidFill>
          <a:ln w="12700">
            <a:solidFill>
              <a:srgbClr val="FF4D5E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15400" y="2523744"/>
            <a:ext cx="2926080" cy="3657600"/>
          </a:xfrm>
          <a:prstGeom prst="rect">
            <a:avLst/>
          </a:prstGeom>
          <a:solidFill>
            <a:srgbClr val="49D0BE">
              <a:alpha val="13000"/>
            </a:srgbClr>
          </a:solidFill>
          <a:ln w="12700">
            <a:solidFill>
              <a:srgbClr val="49D0BE">
                <a:alpha val="4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33172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554480"/>
            <a:ext cx="109728" cy="137160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14813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NÃO RELACIONAL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05840" y="187452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Couchbase</a:t>
            </a:r>
            <a:endParaRPr lang="en-US" sz="7600" dirty="0"/>
          </a:p>
        </p:txBody>
      </p:sp>
      <p:sp>
        <p:nvSpPr>
          <p:cNvPr id="10" name="Text 7"/>
          <p:cNvSpPr/>
          <p:nvPr/>
        </p:nvSpPr>
        <p:spPr>
          <a:xfrm>
            <a:off x="1033272" y="3127248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multimodelo orientado a documentos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documento, chave-valor e busca — tudo em JSON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1033272" y="4800600"/>
            <a:ext cx="82296" cy="914400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12" name="Text 9"/>
          <p:cNvSpPr/>
          <p:nvPr/>
        </p:nvSpPr>
        <p:spPr>
          <a:xfrm>
            <a:off x="1234440" y="47548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por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Éverton  ·  Pedro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33272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74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Documentos JSON  ·  N1QL / SQL++  ·  Docker + Node.js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1737360"/>
            <a:ext cx="64008" cy="128016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4708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19456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68880" y="1956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Couchbase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246888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Conceito, classificação e modelo de dados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400800" y="1737360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00800" y="1737360"/>
            <a:ext cx="64008" cy="1280160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16" name="Text 13"/>
          <p:cNvSpPr/>
          <p:nvPr/>
        </p:nvSpPr>
        <p:spPr>
          <a:xfrm>
            <a:off x="6629400" y="1847088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194560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19568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Teorema CAP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809244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Couchbase equilibra C, A e P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777240" y="3218688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77240" y="3218688"/>
            <a:ext cx="64008" cy="128016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22" name="Text 18"/>
          <p:cNvSpPr/>
          <p:nvPr/>
        </p:nvSpPr>
        <p:spPr>
          <a:xfrm>
            <a:off x="1005840" y="332841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3675888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68880" y="3438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2468880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banco brilha — e onde não usar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400800" y="3218688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400800" y="3218688"/>
            <a:ext cx="64008" cy="1280160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28" name="Text 23"/>
          <p:cNvSpPr/>
          <p:nvPr/>
        </p:nvSpPr>
        <p:spPr>
          <a:xfrm>
            <a:off x="6629400" y="3328416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3675888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92440" y="343814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Ecossistema</a:t>
            </a:r>
            <a:endParaRPr lang="en-US" sz="1700" dirty="0"/>
          </a:p>
        </p:txBody>
      </p:sp>
      <p:sp>
        <p:nvSpPr>
          <p:cNvPr id="31" name="Text 25"/>
          <p:cNvSpPr/>
          <p:nvPr/>
        </p:nvSpPr>
        <p:spPr>
          <a:xfrm>
            <a:off x="8092440" y="3858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Docker, Node.js e o SDK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777240" y="4700016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77240" y="4700016"/>
            <a:ext cx="64008" cy="128016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4" name="Text 28"/>
          <p:cNvSpPr/>
          <p:nvPr/>
        </p:nvSpPr>
        <p:spPr>
          <a:xfrm>
            <a:off x="1005840" y="480974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4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5157216"/>
            <a:ext cx="384048" cy="38404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2468880" y="4919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N1QL / SQL++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2468880" y="5340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 operadores de consulta em JSON</a:t>
            </a:r>
            <a:endParaRPr lang="en-US" sz="1150" dirty="0"/>
          </a:p>
        </p:txBody>
      </p:sp>
      <p:sp>
        <p:nvSpPr>
          <p:cNvPr id="38" name="Shape 31"/>
          <p:cNvSpPr/>
          <p:nvPr/>
        </p:nvSpPr>
        <p:spPr>
          <a:xfrm>
            <a:off x="6400800" y="4700016"/>
            <a:ext cx="530352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400800" y="4700016"/>
            <a:ext cx="64008" cy="1280160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40" name="Text 33"/>
          <p:cNvSpPr/>
          <p:nvPr/>
        </p:nvSpPr>
        <p:spPr>
          <a:xfrm>
            <a:off x="6629400" y="4809744"/>
            <a:ext cx="822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E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40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5157216"/>
            <a:ext cx="384048" cy="38404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092440" y="49194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prática</a:t>
            </a:r>
            <a:endParaRPr lang="en-US" sz="1700" dirty="0"/>
          </a:p>
        </p:txBody>
      </p:sp>
      <p:sp>
        <p:nvSpPr>
          <p:cNvPr id="43" name="Text 35"/>
          <p:cNvSpPr/>
          <p:nvPr/>
        </p:nvSpPr>
        <p:spPr>
          <a:xfrm>
            <a:off x="8092440" y="534009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seed e demo ao vivo da biblioteca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Couchbase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Banco NoSQL orientado a documentos que armazena informações em JSON.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2834640"/>
            <a:ext cx="658368" cy="658368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008376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00200" y="281635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Database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00200" y="31638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registro é um documento JSON com esquema livre.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77240" y="3913632"/>
            <a:ext cx="658368" cy="658368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087368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00200" y="3895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Chave-Valor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600200" y="4242816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direto por chave em latência de microssegundos.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77240" y="4992624"/>
            <a:ext cx="658368" cy="658368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166360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9743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Alta performance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53218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set em memória + escalabilidade horizontal.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20840" y="1691640"/>
            <a:ext cx="4846320" cy="457200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85432" y="184708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23" name="Shape 18"/>
          <p:cNvSpPr/>
          <p:nvPr/>
        </p:nvSpPr>
        <p:spPr>
          <a:xfrm>
            <a:off x="7068312" y="184708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24" name="Shape 19"/>
          <p:cNvSpPr/>
          <p:nvPr/>
        </p:nvSpPr>
        <p:spPr>
          <a:xfrm>
            <a:off x="7251192" y="184708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25" name="Text 20"/>
          <p:cNvSpPr/>
          <p:nvPr/>
        </p:nvSpPr>
        <p:spPr>
          <a:xfrm>
            <a:off x="7498080" y="17556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book::001  —  documento JSON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720840" y="2148840"/>
            <a:ext cx="484632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013448" y="2295144"/>
            <a:ext cx="42976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"title"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"Cem Anos de Solidão"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"Gabriel G. Márquez"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"genre"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"ficcao"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"classico"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"latam"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"publishedYear"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1967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"copies"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"reviews"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"rating"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"u::001"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"rating"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"u::002"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720840" y="6355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</a:t>
            </a:r>
            <a:pPr algn="ctr" indent="0" marL="0">
              <a:buNone/>
            </a:pPr>
            <a:r>
              <a:rPr lang="en-US" sz="1100" b="1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pPr algn="ctr"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(authors, tags)   </a:t>
            </a:r>
            <a:pPr algn="ctr" indent="0" marL="0">
              <a:buNone/>
            </a:pPr>
            <a:r>
              <a:rPr lang="en-US" sz="110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</a:t>
            </a:r>
            <a:pPr algn="ctr" indent="0" marL="0">
              <a:buNone/>
            </a:pPr>
            <a:r>
              <a:rPr lang="en-US" sz="1100" b="1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subdocumento</a:t>
            </a:r>
            <a:pPr algn="ctr"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(reviews)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dados e hierarquia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2148840"/>
            <a:ext cx="1993392" cy="20116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148840"/>
            <a:ext cx="1993392" cy="73152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10" name="Shape 8"/>
          <p:cNvSpPr/>
          <p:nvPr/>
        </p:nvSpPr>
        <p:spPr>
          <a:xfrm>
            <a:off x="1389888" y="2441448"/>
            <a:ext cx="768096" cy="768096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2633472"/>
            <a:ext cx="420624" cy="42062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77240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Conjunto de nós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734056" y="2834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3081528" y="2148840"/>
            <a:ext cx="1993392" cy="20116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081528" y="2148840"/>
            <a:ext cx="1993392" cy="73152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17" name="Shape 14"/>
          <p:cNvSpPr/>
          <p:nvPr/>
        </p:nvSpPr>
        <p:spPr>
          <a:xfrm>
            <a:off x="3694176" y="2441448"/>
            <a:ext cx="768096" cy="768096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7912" y="2633472"/>
            <a:ext cx="420624" cy="4206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81528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3081528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biblioteca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5038344" y="2834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2" name="Shape 18"/>
          <p:cNvSpPr/>
          <p:nvPr/>
        </p:nvSpPr>
        <p:spPr>
          <a:xfrm>
            <a:off x="5385816" y="2148840"/>
            <a:ext cx="1993392" cy="20116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85816" y="2148840"/>
            <a:ext cx="1993392" cy="73152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24" name="Shape 20"/>
          <p:cNvSpPr/>
          <p:nvPr/>
        </p:nvSpPr>
        <p:spPr>
          <a:xfrm>
            <a:off x="5998464" y="2441448"/>
            <a:ext cx="768096" cy="768096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33472"/>
            <a:ext cx="420624" cy="42062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385816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</a:t>
            </a:r>
            <a:endParaRPr lang="en-US" sz="1700" dirty="0"/>
          </a:p>
        </p:txBody>
      </p:sp>
      <p:sp>
        <p:nvSpPr>
          <p:cNvPr id="27" name="Text 22"/>
          <p:cNvSpPr/>
          <p:nvPr/>
        </p:nvSpPr>
        <p:spPr>
          <a:xfrm>
            <a:off x="5385816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_default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7342632" y="2834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29" name="Shape 24"/>
          <p:cNvSpPr/>
          <p:nvPr/>
        </p:nvSpPr>
        <p:spPr>
          <a:xfrm>
            <a:off x="7690104" y="2148840"/>
            <a:ext cx="1993392" cy="20116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690104" y="2148840"/>
            <a:ext cx="1993392" cy="73152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31" name="Shape 26"/>
          <p:cNvSpPr/>
          <p:nvPr/>
        </p:nvSpPr>
        <p:spPr>
          <a:xfrm>
            <a:off x="8302752" y="2441448"/>
            <a:ext cx="768096" cy="768096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633472"/>
            <a:ext cx="420624" cy="42062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690104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7690104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_default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9646920" y="283464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000" dirty="0"/>
          </a:p>
        </p:txBody>
      </p:sp>
      <p:sp>
        <p:nvSpPr>
          <p:cNvPr id="36" name="Shape 30"/>
          <p:cNvSpPr/>
          <p:nvPr/>
        </p:nvSpPr>
        <p:spPr>
          <a:xfrm>
            <a:off x="9994392" y="2148840"/>
            <a:ext cx="1993392" cy="20116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9994392" y="2148840"/>
            <a:ext cx="1993392" cy="73152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38" name="Shape 32"/>
          <p:cNvSpPr/>
          <p:nvPr/>
        </p:nvSpPr>
        <p:spPr>
          <a:xfrm>
            <a:off x="10607040" y="2441448"/>
            <a:ext cx="768096" cy="768096"/>
          </a:xfrm>
          <a:prstGeom prst="ellipse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0776" y="2633472"/>
            <a:ext cx="420624" cy="42062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994392" y="3337560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</a:t>
            </a:r>
            <a:endParaRPr lang="en-US" sz="1700" dirty="0"/>
          </a:p>
        </p:txBody>
      </p:sp>
      <p:sp>
        <p:nvSpPr>
          <p:cNvPr id="41" name="Text 34"/>
          <p:cNvSpPr/>
          <p:nvPr/>
        </p:nvSpPr>
        <p:spPr>
          <a:xfrm>
            <a:off x="9994392" y="37216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 + chave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documento = uma </a:t>
            </a:r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única</a:t>
            </a:r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JSON arbitrário</a:t>
            </a:r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Sem esquema rígido, sem JOINs forçados — o dado vive perto de como a aplicação o usa.</a:t>
            </a:r>
            <a:endParaRPr lang="en-US" sz="1500" dirty="0"/>
          </a:p>
        </p:txBody>
      </p:sp>
      <p:sp>
        <p:nvSpPr>
          <p:cNvPr id="43" name="Shape 36"/>
          <p:cNvSpPr/>
          <p:nvPr/>
        </p:nvSpPr>
        <p:spPr>
          <a:xfrm>
            <a:off x="2926080" y="5669280"/>
            <a:ext cx="6309360" cy="685800"/>
          </a:xfrm>
          <a:prstGeom prst="rect">
            <a:avLst/>
          </a:prstGeom>
          <a:solidFill>
            <a:srgbClr val="16293E"/>
          </a:solidFill>
          <a:ln w="12700">
            <a:solidFill>
              <a:srgbClr val="FF4D5E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680" y="5843016"/>
            <a:ext cx="347472" cy="347472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657600" y="5669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N1QL / SQL++  </a:t>
            </a:r>
            <a:pPr indent="0" marL="0"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SQL para JSON — sintaxe familiar com UNNEST, JOIN e NEST.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Teorema CAP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sistema distribuído não garante as três propriedades ao mesmo tempo.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468880"/>
            <a:ext cx="3429000" cy="2331720"/>
          </a:xfrm>
          <a:prstGeom prst="rect">
            <a:avLst/>
          </a:prstGeom>
          <a:solidFill>
            <a:srgbClr val="16293E"/>
          </a:solidFill>
          <a:ln w="28575">
            <a:solidFill>
              <a:srgbClr val="FF4D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2788920"/>
            <a:ext cx="914400" cy="9144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FF4D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148840" y="2880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Consistência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leitura vê a escrita mais recente.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2468880"/>
            <a:ext cx="3429000" cy="2331720"/>
          </a:xfrm>
          <a:prstGeom prst="rect">
            <a:avLst/>
          </a:prstGeom>
          <a:solidFill>
            <a:srgbClr val="16293E"/>
          </a:solidFill>
          <a:ln w="28575">
            <a:solidFill>
              <a:srgbClr val="49D0B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788920"/>
            <a:ext cx="914400" cy="9144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49D0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9D0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5806440" y="2880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Disponibilidade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754880" y="3886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nó responde a cada requisição.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06440" y="34930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PRIORIZADO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92440" y="2468880"/>
            <a:ext cx="3429000" cy="2331720"/>
          </a:xfrm>
          <a:prstGeom prst="rect">
            <a:avLst/>
          </a:prstGeom>
          <a:solidFill>
            <a:srgbClr val="16293E"/>
          </a:solidFill>
          <a:ln w="15875">
            <a:solidFill>
              <a:srgbClr val="F6C453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2788920"/>
            <a:ext cx="914400" cy="914400"/>
          </a:xfrm>
          <a:prstGeom prst="ellipse">
            <a:avLst/>
          </a:prstGeom>
          <a:solidFill>
            <a:srgbClr val="0E1A2B"/>
          </a:solidFill>
          <a:ln w="25400">
            <a:solidFill>
              <a:srgbClr val="F6C4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2788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6C4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464040" y="2880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Tolerância a Partições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412480" y="38862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mesmo com falha de rede.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166360"/>
            <a:ext cx="10607040" cy="1143000"/>
          </a:xfrm>
          <a:prstGeom prst="rect">
            <a:avLst/>
          </a:prstGeom>
          <a:solidFill>
            <a:srgbClr val="1E3957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166360"/>
            <a:ext cx="82296" cy="1143000"/>
          </a:xfrm>
          <a:prstGeom prst="rect">
            <a:avLst/>
          </a:prstGeom>
          <a:solidFill>
            <a:srgbClr val="FF4D5E"/>
          </a:solidFill>
          <a:ln/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486400"/>
            <a:ext cx="502920" cy="50292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828800" y="5166360"/>
            <a:ext cx="9326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do Couchbase: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dentro do cluster (consistência forte por documento via vBucket ativo)  ·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clusters via XDCR  ·  durabilidade configurável por operação.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Casos de uso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69848" y="212140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304288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21396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Bibliotecas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69848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Acervos, catálogos e empréstimos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182880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27448" y="212140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04288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21396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727448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Carrinhos, catálogos e sessões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92440" y="182880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85048" y="212140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304288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326880" y="213969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Redes sociais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385048" y="297180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e feeds em alta escala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77240" y="384048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69848" y="413308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31596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011680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/ offline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1069848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Lite + Sync Gateway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4434840" y="384048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27448" y="413308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4315968"/>
            <a:ext cx="411480" cy="4114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669280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Catálogos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4727448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 personalização em tempo real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092440" y="3840480"/>
            <a:ext cx="3429000" cy="178308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85048" y="4133088"/>
            <a:ext cx="777240" cy="777240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928" y="4315968"/>
            <a:ext cx="411480" cy="4114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326880" y="4151376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Jogos online</a:t>
            </a:r>
            <a:endParaRPr lang="en-US" sz="1700" dirty="0"/>
          </a:p>
        </p:txBody>
      </p:sp>
      <p:sp>
        <p:nvSpPr>
          <p:cNvPr id="37" name="Text 29"/>
          <p:cNvSpPr/>
          <p:nvPr/>
        </p:nvSpPr>
        <p:spPr>
          <a:xfrm>
            <a:off x="8385048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jogador de baixa latência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77240" y="6035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usar:  </a:t>
            </a:r>
            <a:pPr algn="ctr" indent="0" marL="0">
              <a:buNone/>
            </a:pPr>
            <a:r>
              <a:rPr lang="en-US" sz="13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transações ACID multi-documento pesadas, modelos profundamente relacionais ou orientados a grafo.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Ferramentas e ecossistema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6400800" cy="8229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60120" y="1929384"/>
            <a:ext cx="530352" cy="530352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0574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18562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Couchbase Server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691640" y="222199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do banco — Data, Query, Index e FTS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2743200"/>
            <a:ext cx="6400800" cy="8229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60120" y="2889504"/>
            <a:ext cx="530352" cy="530352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30175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91640" y="28163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691640" y="318211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cluster local com um comando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7240" y="3703320"/>
            <a:ext cx="6400800" cy="8229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60120" y="3849624"/>
            <a:ext cx="530352" cy="530352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97764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77647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91640" y="414223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da nossa aplicação de demonstração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777240" y="4663440"/>
            <a:ext cx="6400800" cy="8229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60120" y="4809744"/>
            <a:ext cx="530352" cy="530352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493776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91640" y="47365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SDK Couchbase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1691640" y="5102352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oficial Node para CRUD e N1QL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7498080" y="1783080"/>
            <a:ext cx="4069080" cy="388620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2148840"/>
            <a:ext cx="1005840" cy="10058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498080" y="324612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Console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777240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administrativa — buckets, documentos e Query Workbench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7818120" y="4617720"/>
            <a:ext cx="3429000" cy="640080"/>
          </a:xfrm>
          <a:prstGeom prst="rect">
            <a:avLst/>
          </a:prstGeom>
          <a:solidFill>
            <a:srgbClr val="0A1422"/>
          </a:solidFill>
          <a:ln w="12700">
            <a:solidFill>
              <a:srgbClr val="FF4D5E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818120" y="46177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http://localhost:8091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Nosso projeto: uma biblioteca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5212080" cy="416052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9385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19385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9385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84708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estrutura do projeto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521208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386584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books · users · loans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queries/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find · group · lookup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seed-data.js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db.js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conexão + SDK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seed.js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popular a base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6C4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demo.js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roteiro da demo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docker/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└─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783080"/>
            <a:ext cx="5212080" cy="123444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1783080"/>
            <a:ext cx="82296" cy="123444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7830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4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5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2167128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778240" y="17830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livros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355080" y="3200400"/>
            <a:ext cx="5212080" cy="123444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355080" y="3200400"/>
            <a:ext cx="82296" cy="1234440"/>
          </a:xfrm>
          <a:prstGeom prst="rect">
            <a:avLst/>
          </a:prstGeom>
          <a:solidFill>
            <a:srgbClr val="49D0BE"/>
          </a:solidFill>
          <a:ln/>
        </p:spPr>
      </p:sp>
      <p:sp>
        <p:nvSpPr>
          <p:cNvPr id="22" name="Text 19"/>
          <p:cNvSpPr/>
          <p:nvPr/>
        </p:nvSpPr>
        <p:spPr>
          <a:xfrm>
            <a:off x="6583680" y="3200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49D0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4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3584448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778240" y="32004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usuários</a:t>
            </a:r>
            <a:endParaRPr lang="en-US" sz="2200" dirty="0"/>
          </a:p>
        </p:txBody>
      </p:sp>
      <p:sp>
        <p:nvSpPr>
          <p:cNvPr id="25" name="Shape 21"/>
          <p:cNvSpPr/>
          <p:nvPr/>
        </p:nvSpPr>
        <p:spPr>
          <a:xfrm>
            <a:off x="6355080" y="4617720"/>
            <a:ext cx="5212080" cy="123444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55080" y="4617720"/>
            <a:ext cx="82296" cy="1234440"/>
          </a:xfrm>
          <a:prstGeom prst="rect">
            <a:avLst/>
          </a:prstGeom>
          <a:solidFill>
            <a:srgbClr val="F6C453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0" y="46177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6C4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54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5001768"/>
            <a:ext cx="457200" cy="4572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778240" y="46177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empréstimos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777240" y="612648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escolhido de propósito:  </a:t>
            </a:r>
            <a:pPr algn="ctr" indent="0" marL="0"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(tags), subdocumentos (reviews, address) e relacionamentos (loans) — exercita todos os operadores que o trabalho pede.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Operadores N1QL demonstrados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33272" y="2039112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19456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745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CRUD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8745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· Read · Update · Delete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34840" y="1783080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2039112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945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5321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Consulta simples por campo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92440" y="1783080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48472" y="2039112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945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9720" y="1984248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+ PROJECT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9189720" y="24231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Filtrar linhas e selecionar campos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77240" y="3264408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033272" y="352044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36758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874520" y="34655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874520" y="3904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Agrupar e contar por chave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434840" y="3264408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690872" y="352044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675888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532120" y="34655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 (JOIN)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5532120" y="3904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Relacionar loans · users · books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092440" y="3264408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348472" y="352044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3675888"/>
            <a:ext cx="347472" cy="3474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189720" y="346557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UNNEST</a:t>
            </a:r>
            <a:endParaRPr lang="en-US" sz="1450" dirty="0"/>
          </a:p>
        </p:txBody>
      </p:sp>
      <p:sp>
        <p:nvSpPr>
          <p:cNvPr id="37" name="Text 29"/>
          <p:cNvSpPr/>
          <p:nvPr/>
        </p:nvSpPr>
        <p:spPr>
          <a:xfrm>
            <a:off x="9189720" y="39044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 → linhas (reviews)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777240" y="4745736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1033272" y="5001768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8720" y="5157216"/>
            <a:ext cx="347472" cy="347472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1874520" y="494690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ARRAYS</a:t>
            </a:r>
            <a:endParaRPr lang="en-US" sz="1450" dirty="0"/>
          </a:p>
        </p:txBody>
      </p:sp>
      <p:sp>
        <p:nvSpPr>
          <p:cNvPr id="42" name="Text 33"/>
          <p:cNvSpPr/>
          <p:nvPr/>
        </p:nvSpPr>
        <p:spPr>
          <a:xfrm>
            <a:off x="1874520" y="53858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"classico" IN tags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4434840" y="4745736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Shape 35"/>
          <p:cNvSpPr/>
          <p:nvPr/>
        </p:nvSpPr>
        <p:spPr>
          <a:xfrm>
            <a:off x="4690872" y="5001768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49D0BE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46320" y="5157216"/>
            <a:ext cx="347472" cy="347472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5532120" y="494690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SUBDOCUMENTOS</a:t>
            </a:r>
            <a:endParaRPr lang="en-US" sz="1450" dirty="0"/>
          </a:p>
        </p:txBody>
      </p:sp>
      <p:sp>
        <p:nvSpPr>
          <p:cNvPr id="47" name="Text 37"/>
          <p:cNvSpPr/>
          <p:nvPr/>
        </p:nvSpPr>
        <p:spPr>
          <a:xfrm>
            <a:off x="5532120" y="53858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Objetos internos (address)</a:t>
            </a:r>
            <a:endParaRPr lang="en-US" sz="1050" dirty="0"/>
          </a:p>
        </p:txBody>
      </p:sp>
      <p:sp>
        <p:nvSpPr>
          <p:cNvPr id="48" name="Shape 38"/>
          <p:cNvSpPr/>
          <p:nvPr/>
        </p:nvSpPr>
        <p:spPr>
          <a:xfrm>
            <a:off x="8092440" y="4745736"/>
            <a:ext cx="3429000" cy="1280160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49" name="Shape 39"/>
          <p:cNvSpPr/>
          <p:nvPr/>
        </p:nvSpPr>
        <p:spPr>
          <a:xfrm>
            <a:off x="8348472" y="5001768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5157216"/>
            <a:ext cx="347472" cy="34747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9189720" y="4946904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AGGREGATE</a:t>
            </a:r>
            <a:endParaRPr lang="en-US" sz="1450" dirty="0"/>
          </a:p>
        </p:txBody>
      </p:sp>
      <p:sp>
        <p:nvSpPr>
          <p:cNvPr id="52" name="Text 41"/>
          <p:cNvSpPr/>
          <p:nvPr/>
        </p:nvSpPr>
        <p:spPr>
          <a:xfrm>
            <a:off x="9189720" y="538581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AVG, COUNT, SUM por grupo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· AO VIVO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FIND, PROJECT e GROUP BY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5257800" cy="361188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9385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19385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9385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847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 project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525780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386584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buscar livros de ficção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title, genre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genre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"ficcao"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apenas título e ano (project)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title, publishedYear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257800" cy="361188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19385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1112" y="19385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3992" y="19385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847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+ aggregate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525780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386584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quantos livros por gênero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genre,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genre;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exemplares por gênero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genre,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(copies)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type=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genre;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N1QL é SQL — quem já sabe SQL relacional consulta JSON no primeiro dia.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· RELACIONAMENTOS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e UNNEST — o poder do JSON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83080"/>
            <a:ext cx="5257800" cy="361188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41832" y="19385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0" name="Shape 8"/>
          <p:cNvSpPr/>
          <p:nvPr/>
        </p:nvSpPr>
        <p:spPr>
          <a:xfrm>
            <a:off x="1124712" y="19385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1" name="Shape 9"/>
          <p:cNvSpPr/>
          <p:nvPr/>
        </p:nvSpPr>
        <p:spPr>
          <a:xfrm>
            <a:off x="1307592" y="19385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1847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lookup — join on keys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240280"/>
            <a:ext cx="525780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386584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empréstimos + usuário + livro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u.name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leitor,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b.title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livro,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l.status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u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KEYS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l.userId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b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KEYS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l.bookId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l.type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"loan"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1783080"/>
            <a:ext cx="5257800" cy="361188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19385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11112" y="19385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8" name="Shape 16"/>
          <p:cNvSpPr/>
          <p:nvPr/>
        </p:nvSpPr>
        <p:spPr>
          <a:xfrm>
            <a:off x="6793992" y="19385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84708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 — arrays em linhas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2240280"/>
            <a:ext cx="525780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56248" y="2386584"/>
            <a:ext cx="4709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todas as avaliações nota 5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b.title,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r.rating, r.comment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b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b.reviews 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r.rating =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8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livros com a tag classico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"classico"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tags;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8064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KEYS</a:t>
            </a:r>
            <a:pPr algn="ctr" indent="0" marL="0"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relaciona documentos pela chave;  </a:t>
            </a:r>
            <a:pPr algn="ctr" indent="0" marL="0">
              <a:buNone/>
            </a:pPr>
            <a:r>
              <a:rPr lang="en-US" sz="1300" b="1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</a:t>
            </a:r>
            <a:pPr algn="ctr" indent="0" marL="0"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explode arrays internos em linhas — sem tabela auxiliar.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GRANDE FINAL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Consulta completa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62763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único pipeline: JOIN + UNNEST + GROUP + AGGREGATE + ORDER.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8503920" cy="342900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2395728"/>
            <a:ext cx="118872" cy="118872"/>
          </a:xfrm>
          <a:prstGeom prst="ellipse">
            <a:avLst/>
          </a:prstGeom>
          <a:solidFill>
            <a:srgbClr val="FF4D5E"/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2395728"/>
            <a:ext cx="118872" cy="118872"/>
          </a:xfrm>
          <a:prstGeom prst="ellipse">
            <a:avLst/>
          </a:prstGeom>
          <a:solidFill>
            <a:srgbClr val="F6C453"/>
          </a:solidFill>
          <a:ln/>
        </p:spPr>
      </p:sp>
      <p:sp>
        <p:nvSpPr>
          <p:cNvPr id="12" name="Shape 10"/>
          <p:cNvSpPr/>
          <p:nvPr/>
        </p:nvSpPr>
        <p:spPr>
          <a:xfrm>
            <a:off x="2359152" y="2395728"/>
            <a:ext cx="118872" cy="118872"/>
          </a:xfrm>
          <a:prstGeom prst="ellipse">
            <a:avLst/>
          </a:prstGeom>
          <a:solidFill>
            <a:srgbClr val="49D0BE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230428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7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empréstimos × nota média, por gênero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2697480"/>
            <a:ext cx="8503920" cy="0"/>
          </a:xfrm>
          <a:prstGeom prst="line">
            <a:avLst/>
          </a:prstGeom>
          <a:noFill/>
          <a:ln w="12700">
            <a:solidFill>
              <a:srgbClr val="2748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21408" y="2843784"/>
            <a:ext cx="7955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b.genre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genero,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(l).id)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qtdEmprestimos,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(r.rating)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notaMedia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l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biblioteca b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KEYS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l.bookId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UNNEST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b.reviews r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l.type =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"loan"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b.type =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"book"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b.genre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qtdEmprestimos </a:t>
            </a:r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9D7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Relaciona, achata, agrupa, calcula e ordena — em uma só passagem sobre os documentos.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prática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0607040" cy="1207008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210312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258568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19933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· Subir o Couchbase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965960" y="24871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local no ar (porta 8091)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355080" y="2157984"/>
            <a:ext cx="4800600" cy="54864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21579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77240" y="3246120"/>
            <a:ext cx="10607040" cy="1207008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051560" y="352044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3675888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65960" y="34107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· Popular a base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965960" y="39044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livros · 4 usuários · 5 empréstimos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55080" y="3575304"/>
            <a:ext cx="4800600" cy="54864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37960" y="35753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seed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777240" y="4663440"/>
            <a:ext cx="10607040" cy="1207008"/>
          </a:xfrm>
          <a:prstGeom prst="rect">
            <a:avLst/>
          </a:prstGeom>
          <a:solidFill>
            <a:srgbClr val="16293E"/>
          </a:solidFill>
          <a:ln w="12700">
            <a:solidFill>
              <a:srgbClr val="27486B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1051560" y="4937760"/>
            <a:ext cx="658368" cy="658368"/>
          </a:xfrm>
          <a:prstGeom prst="ellipse">
            <a:avLst/>
          </a:prstGeom>
          <a:solidFill>
            <a:srgbClr val="1E3957"/>
          </a:solidFill>
          <a:ln w="19050">
            <a:solidFill>
              <a:srgbClr val="FF4D5E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09320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65960" y="48280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· Rodar a demonstração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1965960" y="53218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todos os operadores em sequência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355080" y="4992624"/>
            <a:ext cx="4800600" cy="548640"/>
          </a:xfrm>
          <a:prstGeom prst="rect">
            <a:avLst/>
          </a:prstGeom>
          <a:solidFill>
            <a:srgbClr val="0A1422"/>
          </a:solidFill>
          <a:ln w="12700">
            <a:solidFill>
              <a:srgbClr val="27486B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537960" y="49926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D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400" dirty="0">
                <a:solidFill>
                  <a:srgbClr val="49D0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demo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777240" y="61722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Depois:  </a:t>
            </a:r>
            <a:pPr algn="ctr" indent="0" marL="0">
              <a:buNone/>
            </a:pPr>
            <a:r>
              <a:rPr lang="en-US" sz="13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Query Workbench em localhost:8091 e rodar uma consulta ad-hoc ao vivo.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10637215" y="-822960"/>
            <a:ext cx="2194560" cy="2194560"/>
          </a:xfrm>
          <a:prstGeom prst="rect">
            <a:avLst/>
          </a:prstGeom>
          <a:solidFill>
            <a:srgbClr val="FF4D5E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10088575" y="-1188720"/>
            <a:ext cx="2194560" cy="2194560"/>
          </a:xfrm>
          <a:prstGeom prst="rect">
            <a:avLst/>
          </a:prstGeom>
          <a:solidFill>
            <a:srgbClr val="49D0BE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66928"/>
            <a:ext cx="82296" cy="566928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58952" y="7315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774375" y="457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274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o trabalho demonstrou</a:t>
            </a:r>
            <a:endParaRPr lang="en-US" sz="1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322576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e uso via Docker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2257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74920" y="22860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Node.js + SDK</a:t>
            </a:r>
            <a:endParaRPr lang="en-US" sz="14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CRUD completas</a:t>
            </a:r>
            <a:endParaRPr lang="en-US" sz="14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035808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4920" y="29992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avançadas (N1QL)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4904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37124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e subdocumentos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4904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074920" y="37124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(JOIN) e UNNEST</a:t>
            </a:r>
            <a:endParaRPr lang="en-US" sz="14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462272"/>
            <a:ext cx="365760" cy="36576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80160" y="4425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AGGREGATE e ORDER</a:t>
            </a:r>
            <a:endParaRPr lang="en-US" sz="14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4462272"/>
            <a:ext cx="365760" cy="36576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074920" y="442569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dados em JSON</a:t>
            </a:r>
            <a:endParaRPr lang="en-US" sz="1450" dirty="0"/>
          </a:p>
        </p:txBody>
      </p:sp>
      <p:sp>
        <p:nvSpPr>
          <p:cNvPr id="25" name="Shape 15"/>
          <p:cNvSpPr/>
          <p:nvPr/>
        </p:nvSpPr>
        <p:spPr>
          <a:xfrm>
            <a:off x="8503920" y="2286000"/>
            <a:ext cx="3063240" cy="3246120"/>
          </a:xfrm>
          <a:prstGeom prst="rect">
            <a:avLst/>
          </a:prstGeom>
          <a:solidFill>
            <a:srgbClr val="16293E"/>
          </a:solidFill>
          <a:ln w="19050">
            <a:solidFill>
              <a:srgbClr val="FF4D5E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8503920" y="2286000"/>
            <a:ext cx="3063240" cy="82296"/>
          </a:xfrm>
          <a:prstGeom prst="rect">
            <a:avLst/>
          </a:prstGeom>
          <a:solidFill>
            <a:srgbClr val="FF4D5E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2520" y="2560320"/>
            <a:ext cx="502920" cy="50292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732520" y="31546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 honesta</a:t>
            </a:r>
            <a:endParaRPr lang="en-US" sz="1700" dirty="0"/>
          </a:p>
        </p:txBody>
      </p:sp>
      <p:sp>
        <p:nvSpPr>
          <p:cNvPr id="29" name="Text 18"/>
          <p:cNvSpPr/>
          <p:nvPr/>
        </p:nvSpPr>
        <p:spPr>
          <a:xfrm>
            <a:off x="8732520" y="361188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é poderoso em casos específicos — multimodelo, mobile-sync e KV + query no mesmo motor. A curva de adoção é maior que a do MongoDB, mas a capacidade de relacionar JSON com N1QL compensa.</a:t>
            </a:r>
            <a:endParaRPr lang="en-US" sz="1250" dirty="0"/>
          </a:p>
        </p:txBody>
      </p:sp>
      <p:sp>
        <p:nvSpPr>
          <p:cNvPr id="30" name="Text 19"/>
          <p:cNvSpPr/>
          <p:nvPr/>
        </p:nvSpPr>
        <p:spPr>
          <a:xfrm>
            <a:off x="777240" y="6080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requisitos do enunciado </a:t>
            </a:r>
            <a:pPr indent="0" marL="0">
              <a:buNone/>
            </a:pPr>
            <a:r>
              <a:rPr lang="en-US" sz="1400" b="1" dirty="0">
                <a:solidFill>
                  <a:srgbClr val="49D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foram atendidos.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01000" y="1508760"/>
            <a:ext cx="2834640" cy="3566160"/>
          </a:xfrm>
          <a:prstGeom prst="rect">
            <a:avLst/>
          </a:prstGeom>
          <a:solidFill>
            <a:srgbClr val="FF4D5E">
              <a:alpha val="10000"/>
            </a:srgbClr>
          </a:solidFill>
          <a:ln w="12700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1892808"/>
            <a:ext cx="2834640" cy="3566160"/>
          </a:xfrm>
          <a:prstGeom prst="rect">
            <a:avLst/>
          </a:prstGeom>
          <a:solidFill>
            <a:srgbClr val="49D0BE">
              <a:alpha val="10000"/>
            </a:srgbClr>
          </a:solidFill>
          <a:ln w="12700">
            <a:solidFill>
              <a:srgbClr val="49D0BE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2276856"/>
            <a:ext cx="2834640" cy="3566160"/>
          </a:xfrm>
          <a:prstGeom prst="rect">
            <a:avLst/>
          </a:prstGeom>
          <a:solidFill>
            <a:srgbClr val="FF4D5E">
              <a:alpha val="10000"/>
            </a:srgbClr>
          </a:solidFill>
          <a:ln w="12700">
            <a:solidFill>
              <a:srgbClr val="FF4D5E">
                <a:alpha val="3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0" y="2660904"/>
            <a:ext cx="2834640" cy="3566160"/>
          </a:xfrm>
          <a:prstGeom prst="rect">
            <a:avLst/>
          </a:prstGeom>
          <a:solidFill>
            <a:srgbClr val="49D0BE">
              <a:alpha val="10000"/>
            </a:srgbClr>
          </a:solidFill>
          <a:ln w="12700">
            <a:solidFill>
              <a:srgbClr val="49D0BE">
                <a:alpha val="38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514600"/>
            <a:ext cx="155448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2286000"/>
            <a:ext cx="109728" cy="1325880"/>
          </a:xfrm>
          <a:prstGeom prst="rect">
            <a:avLst/>
          </a:prstGeom>
          <a:solidFill>
            <a:srgbClr val="FF4D5E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194560"/>
            <a:ext cx="6675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F1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1170432" y="3520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49D0B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Perguntas?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170432" y="4572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93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Couchbase  ·  NoSQL Orientado a Documentos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Éverton  ·  Pedro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Couchbase — Banco de Dados NoSQL</dc:title>
  <dc:subject>PptxGenJS Presentation</dc:subject>
  <dc:creator>Éverton &amp; Pedro</dc:creator>
  <cp:lastModifiedBy>Éverton &amp; Pedro</cp:lastModifiedBy>
  <cp:revision>1</cp:revision>
  <dcterms:created xsi:type="dcterms:W3CDTF">2026-06-17T22:40:06Z</dcterms:created>
  <dcterms:modified xsi:type="dcterms:W3CDTF">2026-06-17T22:40:06Z</dcterms:modified>
</cp:coreProperties>
</file>